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2872" y="3931920"/>
            <a:ext cx="4023360" cy="4023360"/>
          </a:xfrm>
          <a:prstGeom prst="ellipse">
            <a:avLst/>
          </a:prstGeom>
          <a:solidFill>
            <a:srgbClr val="141B47"/>
          </a:solidFill>
          <a:ln/>
        </p:spPr>
      </p:sp>
      <p:sp>
        <p:nvSpPr>
          <p:cNvPr id="3" name="Shape 1"/>
          <p:cNvSpPr/>
          <p:nvPr/>
        </p:nvSpPr>
        <p:spPr>
          <a:xfrm>
            <a:off x="10085832" y="4754880"/>
            <a:ext cx="2377440" cy="23774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10497312" y="5166360"/>
            <a:ext cx="1554480" cy="1554480"/>
          </a:xfrm>
          <a:prstGeom prst="ellipse">
            <a:avLst/>
          </a:prstGeom>
          <a:solidFill>
            <a:srgbClr val="32418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5932" y="555498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RESEARCH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of Better Decisions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7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mathematical modeling, optimization, and structured decision-making turn complex, resource-constrained problems into solvable ones — across manufacturing, logistics, healthcare, and beyond.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502920" cy="36576"/>
          </a:xfrm>
          <a:prstGeom prst="rect">
            <a:avLst/>
          </a:prstGeom>
          <a:solidFill>
            <a:srgbClr val="C99A3E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074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Adeleke Olorunnisola Oyeyemi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5413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Mechanical Engineering — Federal University of Technology, Akure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Operations Research?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806440" cy="2331720"/>
          </a:xfrm>
          <a:prstGeom prst="roundRect">
            <a:avLst>
              <a:gd name="adj" fmla="val 313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8308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is the art of finding the best alternative(s) among a given set of options — the process of finding the maximum or minimum value a given function can attain within its domain of definition.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720840" y="160020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Research (OR) applies this idea at scale: it is the discipline of using mathematical modeling, statistical analysis, and algorithmic methods to arrive at optimal or near-optimal decisions in complex, resource-constrained systems — turning a vague goal like “do this efficiently” into a precisely defined, solvable problem.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43616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405" y="4474845"/>
            <a:ext cx="276606" cy="2766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4343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41248" y="49103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system and its constraints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4786884"/>
            <a:ext cx="146304" cy="164592"/>
          </a:xfrm>
          <a:prstGeom prst="rightArrow">
            <a:avLst/>
          </a:prstGeom>
          <a:solidFill>
            <a:srgbClr val="C99A3E"/>
          </a:solidFill>
          <a:ln/>
        </p:spPr>
      </p:sp>
      <p:sp>
        <p:nvSpPr>
          <p:cNvPr id="13" name="Shape 10"/>
          <p:cNvSpPr/>
          <p:nvPr/>
        </p:nvSpPr>
        <p:spPr>
          <a:xfrm>
            <a:off x="3429000" y="416052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30168" y="43616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325" y="4474845"/>
            <a:ext cx="276606" cy="27660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51960" y="4343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30168" y="49103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it mathematically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053328" y="4786884"/>
            <a:ext cx="146304" cy="164592"/>
          </a:xfrm>
          <a:prstGeom prst="rightArrow">
            <a:avLst/>
          </a:prstGeom>
          <a:solidFill>
            <a:srgbClr val="C99A3E"/>
          </a:solidFill>
          <a:ln/>
        </p:spPr>
      </p:sp>
      <p:sp>
        <p:nvSpPr>
          <p:cNvPr id="19" name="Shape 15"/>
          <p:cNvSpPr/>
          <p:nvPr/>
        </p:nvSpPr>
        <p:spPr>
          <a:xfrm>
            <a:off x="6217920" y="416052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19088" y="43616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245" y="4474845"/>
            <a:ext cx="276606" cy="27660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040880" y="4343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19088" y="49103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solution space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842248" y="4786884"/>
            <a:ext cx="146304" cy="164592"/>
          </a:xfrm>
          <a:prstGeom prst="rightArrow">
            <a:avLst/>
          </a:prstGeom>
          <a:solidFill>
            <a:srgbClr val="C99A3E"/>
          </a:solidFill>
          <a:ln/>
        </p:spPr>
      </p:sp>
      <p:sp>
        <p:nvSpPr>
          <p:cNvPr id="25" name="Shape 20"/>
          <p:cNvSpPr/>
          <p:nvPr/>
        </p:nvSpPr>
        <p:spPr>
          <a:xfrm>
            <a:off x="9006840" y="416052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08008" y="43616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1165" y="4474845"/>
            <a:ext cx="276606" cy="27660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829800" y="4343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9208008" y="49103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a defensible best choice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Operations Research Matters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mathematical machinery — objective functions, constraints, and search — recurs everywhere a limited resource must be allocated well.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03020" y="237744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4470" y="2548890"/>
            <a:ext cx="342900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layout, and product mix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852928" y="210312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15868" y="237744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318" y="2548890"/>
            <a:ext cx="342900" cy="342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44368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990088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Routing, distribution, facility location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65776" y="210312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728716" y="237744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166" y="2548890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157216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5202936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rostering, bed allocation, triage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7278624" y="210312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941564" y="237744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3014" y="2548890"/>
            <a:ext cx="342900" cy="3429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70064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415784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and risk optimization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9491472" y="210312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10154412" y="237744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5862" y="2548890"/>
            <a:ext cx="342900" cy="3429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582912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962863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scheduling and crew assignment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31" name="Text 24"/>
          <p:cNvSpPr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percentage-point improvement in routing efficiency, inventory turnover, or scheduling utilization compounds into enormous savings at industrial scale — which is precisely why OR sits at the center of modern operations management.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051560" cy="105156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561" y="2385441"/>
            <a:ext cx="578358" cy="5783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05740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057400" y="246888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Taxonomy of Optimization Problems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2057400" y="406908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 problem is first classified along two axes: whether its variables and outcomes are fixed or uncertain, and whether its decision space is continuous or discrete.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vs. Stochastic — the First Split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1206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18" y="2018538"/>
            <a:ext cx="352044" cy="3520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984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Optimization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2651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— costs, capacities, demand — is known with certainty. The challenge is purely computational: search a well-defined space for the optimum.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Continuous Optimization (convex, concave)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1440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Combinatorial Optimization (LP, IP, assignment, knapsack)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Routing &amp; Scheduling (TSP, VRP, job scheduling)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12064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/>
        </p:spPr>
      </p:sp>
      <p:sp>
        <p:nvSpPr>
          <p:cNvPr id="13" name="Shape 10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538" y="2018538"/>
            <a:ext cx="352044" cy="3520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1984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Models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446520" y="2651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is intrinsic — arrival times, demand, or travel times follow probability distributions. Solutions must perform well on average or with a stated confidence level.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44652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Network &amp; Flow Models (transportation, network flow)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644652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Inventory Control Problems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644652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Queueing Theory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· DETERMINISTIC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Optimization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decision variables can take any value within a range, the shape of the objective function determines how tractable the problem 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120640" cy="3749040"/>
          </a:xfrm>
          <a:prstGeom prst="roundRect">
            <a:avLst>
              <a:gd name="adj" fmla="val 1951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514600"/>
            <a:ext cx="777240" cy="7772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708910"/>
            <a:ext cx="388620" cy="3886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520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 Optimization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40690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global optimum; local search methods (gradient descent, interior-point) are guaranteed to find it. The workhorse of modern large-scale optimization.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194560"/>
            <a:ext cx="51206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51460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708910"/>
            <a:ext cx="388620" cy="3886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92240" y="3520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Concave Optimization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492240" y="40690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Maximizing a concave function is the mirror image of convex minimization — common in utility maximization and resource-allocation problems.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· DETERMINISTIC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Combinatorial Optimization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the decision variables are discrete — choose a subset, an ordering, or an assignment from a finite (but often astronomically large) set of options.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45643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117" y="2353437"/>
            <a:ext cx="276606" cy="27660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44752" y="2203704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Programming (LP)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2926080"/>
            <a:ext cx="3090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objective, linear constraints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79392" y="2057400"/>
            <a:ext cx="345643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62272" y="2240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429" y="2353437"/>
            <a:ext cx="276606" cy="2766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84064" y="2203704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Programming (IP)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462272" y="2926080"/>
            <a:ext cx="3090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with integer-valued variables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918704" y="2057400"/>
            <a:ext cx="345643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01584" y="2240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4741" y="2353437"/>
            <a:ext cx="276606" cy="2766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23376" y="2203704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Problem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8101584" y="2926080"/>
            <a:ext cx="3090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agents to tasks at minimum cost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40080" y="3950208"/>
            <a:ext cx="345643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22960" y="41330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117" y="4246245"/>
            <a:ext cx="276606" cy="27660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44752" y="4096512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Problem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822960" y="4818888"/>
            <a:ext cx="3090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value under a capacity limit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279392" y="3950208"/>
            <a:ext cx="345643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462272" y="41330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429" y="4246245"/>
            <a:ext cx="276606" cy="27660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84064" y="4096512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Travelling Salesman (TSP)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4462272" y="4818888"/>
            <a:ext cx="3090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tour visiting every city once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7918704" y="3950208"/>
            <a:ext cx="345643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101584" y="41330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4741" y="4246245"/>
            <a:ext cx="276606" cy="27660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723376" y="4096512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Routing (VRP)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8101584" y="4818888"/>
            <a:ext cx="3090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Multi-vehicle delivery route optimization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· STOCHASTIC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&amp; Flow Models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logistics and resource-distribution problems reduce to moving a quantity through a network of nodes and arcs at minimum cost or maximum throughput.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651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40233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2926080" y="33375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51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4937760" y="40233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1243584" y="2843784"/>
            <a:ext cx="1874520" cy="685800"/>
          </a:xfrm>
          <a:prstGeom prst="line">
            <a:avLst/>
          </a:prstGeom>
          <a:noFill/>
          <a:ln w="28575">
            <a:solidFill>
              <a:srgbClr val="C99A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243584" y="3529584"/>
            <a:ext cx="1874520" cy="685800"/>
          </a:xfrm>
          <a:prstGeom prst="line">
            <a:avLst/>
          </a:prstGeom>
          <a:noFill/>
          <a:ln w="28575">
            <a:solidFill>
              <a:srgbClr val="C99A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118104" y="2843784"/>
            <a:ext cx="2011680" cy="685800"/>
          </a:xfrm>
          <a:prstGeom prst="line">
            <a:avLst/>
          </a:prstGeom>
          <a:noFill/>
          <a:ln w="28575">
            <a:solidFill>
              <a:srgbClr val="C99A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18104" y="3529584"/>
            <a:ext cx="2011680" cy="685800"/>
          </a:xfrm>
          <a:prstGeom prst="line">
            <a:avLst/>
          </a:prstGeom>
          <a:noFill/>
          <a:ln w="28575">
            <a:solidFill>
              <a:srgbClr val="C99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hub → sink flow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2286000"/>
            <a:ext cx="5468112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2560320"/>
            <a:ext cx="640080" cy="64008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5100" y="2720340"/>
            <a:ext cx="320040" cy="32004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178040" y="26700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 Problem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55080" y="32004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Minimum-cost shipment from multiple supply points to multiple demand points, respecting capacity and requirement constraints.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355080" y="3977640"/>
            <a:ext cx="502920" cy="50292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810" y="4103370"/>
            <a:ext cx="251460" cy="2514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040880" y="4069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Flow Problems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· STOCHASTIC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 Control &amp; Queueing Theory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11680"/>
            <a:ext cx="777240" cy="7772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20599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Control Problems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6118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and how much to reorder under uncertain demand and lead time, balancing holding cost against stockout risk. Classic models: EOQ, (s, S) policies, newsvendor problem.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20599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92240" y="30175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Queueing Theory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36118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of waiting lines — arrivals, service times, and server capacity — used to size staffing, checkout counters, call centers, and computer-network buffers.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051560" cy="105156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561" y="2385441"/>
            <a:ext cx="578358" cy="5783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05740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057400" y="246888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Optimization Workflow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2057400" y="406908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a real OR problem is rarely a single step. It is an iterative process spanning problem formulation, handling real-world imperfection, algorithm choice, refinement, and implementation.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377440" cy="576072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68680" y="2423160"/>
            <a:ext cx="1005840" cy="10058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6746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394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B7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before you compute.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38328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Formulation &amp; Modeling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3383280" y="1463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optimization begins by translating a messy real-world goal into a precise mathematical object.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83280" y="24231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279806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2" name="Text 9"/>
          <p:cNvSpPr/>
          <p:nvPr/>
        </p:nvSpPr>
        <p:spPr>
          <a:xfrm>
            <a:off x="3886200" y="24963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Identification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886200" y="280720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quantity are we actually maximizing or minimizing?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0" y="34747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66160" y="384962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6" name="Text 13"/>
          <p:cNvSpPr/>
          <p:nvPr/>
        </p:nvSpPr>
        <p:spPr>
          <a:xfrm>
            <a:off x="3886200" y="35478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Variables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886200" y="38587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we actually choose or control?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83280" y="45262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66160" y="490118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0" name="Text 17"/>
          <p:cNvSpPr/>
          <p:nvPr/>
        </p:nvSpPr>
        <p:spPr>
          <a:xfrm>
            <a:off x="3886200" y="45994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Formulation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886200" y="49103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limits — capacity, budget, time — must be respected?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83280" y="55778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66160" y="595274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4" name="Text 21"/>
          <p:cNvSpPr/>
          <p:nvPr/>
        </p:nvSpPr>
        <p:spPr>
          <a:xfrm>
            <a:off x="3886200" y="56509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Representation Choice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3886200" y="596188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Linear? Nonlinear? Integer? The choice shapes every step after.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377440" cy="576072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68680" y="2423160"/>
            <a:ext cx="1005840" cy="10058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6746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394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B7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meet messy reality.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38328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Imperfections &amp; Uncertainties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3383280" y="1463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dataset is perfect and no future is fully known — a model has to survive contact with both.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83280" y="24231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279806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2" name="Text 9"/>
          <p:cNvSpPr/>
          <p:nvPr/>
        </p:nvSpPr>
        <p:spPr>
          <a:xfrm>
            <a:off x="3886200" y="24963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Handling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886200" y="280720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values, measurement error, and inconsistent sources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0" y="34747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66160" y="384962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6" name="Text 13"/>
          <p:cNvSpPr/>
          <p:nvPr/>
        </p:nvSpPr>
        <p:spPr>
          <a:xfrm>
            <a:off x="3886200" y="35478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Incorporation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886200" y="38587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parameters, scenario analysis, robust optimization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377440" cy="576072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68680" y="2423160"/>
            <a:ext cx="1005840" cy="10058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6746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394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B7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problem.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38328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Selection &amp; Customization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3383280" y="1463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algorithm dominates every problem class — selection is itself an engineering decision.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83280" y="24231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279806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2" name="Text 9"/>
          <p:cNvSpPr/>
          <p:nvPr/>
        </p:nvSpPr>
        <p:spPr>
          <a:xfrm>
            <a:off x="3886200" y="24963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Characteristics Understanding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886200" y="280720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Convexity, scale, and structure dictate what will even converge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0" y="34747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66160" y="384962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6" name="Text 13"/>
          <p:cNvSpPr/>
          <p:nvPr/>
        </p:nvSpPr>
        <p:spPr>
          <a:xfrm>
            <a:off x="3886200" y="35478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Suitability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886200" y="38587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methods vs. metaheuristics vs. specialized solvers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83280" y="45262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66160" y="490118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0" name="Text 17"/>
          <p:cNvSpPr/>
          <p:nvPr/>
        </p:nvSpPr>
        <p:spPr>
          <a:xfrm>
            <a:off x="3886200" y="45994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Tuning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886200" y="49103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sizes, population sizes, cooling schedules — tuned, not guessed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377440" cy="576072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68680" y="2423160"/>
            <a:ext cx="1005840" cy="10058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6746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394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B7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are refined, not revealed.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38328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Iterative Process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3383280" y="1463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is rarely a single pass — it is a disciplined loop of solve, check, and adjust.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83280" y="24231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279806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2" name="Text 9"/>
          <p:cNvSpPr/>
          <p:nvPr/>
        </p:nvSpPr>
        <p:spPr>
          <a:xfrm>
            <a:off x="3886200" y="24963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Refinement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886200" y="280720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Re-solving as new information or constraints emerge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0" y="34747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66160" y="384962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6" name="Text 13"/>
          <p:cNvSpPr/>
          <p:nvPr/>
        </p:nvSpPr>
        <p:spPr>
          <a:xfrm>
            <a:off x="3886200" y="35478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Enough” Recognition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886200" y="38587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further search no longer justifies its cost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2377440" cy="576072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68680" y="2423160"/>
            <a:ext cx="1005840" cy="10058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6746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394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B7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is not a decision.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38328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Interpreting &amp; Implementing Solutions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3383280" y="1463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optimizer's output only becomes valuable once it is understood, trusted, and acted upon by people.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83280" y="24231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279806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2" name="Text 9"/>
          <p:cNvSpPr/>
          <p:nvPr/>
        </p:nvSpPr>
        <p:spPr>
          <a:xfrm>
            <a:off x="3886200" y="24963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Sensitivity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886200" y="280720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the answer change if inputs shift slightly?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0" y="34747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66160" y="384962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6" name="Text 13"/>
          <p:cNvSpPr/>
          <p:nvPr/>
        </p:nvSpPr>
        <p:spPr>
          <a:xfrm>
            <a:off x="3886200" y="35478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Communication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886200" y="38587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results for non-technical decision-makers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83280" y="45262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66160" y="4901184"/>
            <a:ext cx="164592" cy="164592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0" name="Text 17"/>
          <p:cNvSpPr/>
          <p:nvPr/>
        </p:nvSpPr>
        <p:spPr>
          <a:xfrm>
            <a:off x="3886200" y="45994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Factors &amp; Human Judgment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886200" y="49103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on paper is not always feasible in practice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051560" cy="105156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561" y="2385441"/>
            <a:ext cx="578358" cy="5783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05740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057400" y="246888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Research in Production Management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2057400" y="406908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application domain — production management — already touches manufacturing, maintenance, project scheduling, and physical distribution.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MANAGEMENT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Workforce Planning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5623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" y="1996135"/>
            <a:ext cx="341986" cy="3419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28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Scheduling &amp; Sequencing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96112" y="26517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jobs across machines to meet due dates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8232" y="185623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135" y="1996135"/>
            <a:ext cx="341986" cy="3419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1828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 of Production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28232" y="26517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output despite demand fluctuation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96112" y="405079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4190695"/>
            <a:ext cx="341986" cy="3419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023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— Training &amp; Layoffs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96112" y="48463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sizing decisions tied to production plans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72200" y="37947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28232" y="405079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135" y="4190695"/>
            <a:ext cx="341986" cy="3419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78040" y="4023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Product Mix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428232" y="48463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products, in what quantities, maximize contribution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MANAGEMENT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Maintenance &amp; Project Scheduling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11680"/>
            <a:ext cx="777240" cy="77724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20599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657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Maintenance Policies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4160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Preventive Maintenance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69164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205990"/>
            <a:ext cx="388620" cy="3886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922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Scheduling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492240" y="3657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Allocation of Resources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92240" y="4160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Critical-path &amp; timeline planning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MANAGEMENT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Distribution &amp; Facilities Planning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5623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" y="1996135"/>
            <a:ext cx="341986" cy="3419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28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&amp; Size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96112" y="26517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Warehouses, distribution centres, retail outlets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8232" y="185623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135" y="1996135"/>
            <a:ext cx="341986" cy="3419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1828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Policy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28232" y="265176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stock moves from source to point of sale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96112" y="405079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4190695"/>
            <a:ext cx="341986" cy="3419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023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Numbers &amp; Location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96112" y="48463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Factories, warehouses, hospitals — how many, and where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72200" y="37947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28232" y="405079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135" y="4190695"/>
            <a:ext cx="341986" cy="3419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78040" y="4023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Loading, Unloading &amp; Transport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428232" y="48463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Railways, trucks, and transport schedules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71600"/>
            <a:ext cx="1188720" cy="1188720"/>
          </a:xfrm>
          <a:prstGeom prst="ellipse">
            <a:avLst/>
          </a:prstGeom>
          <a:solidFill>
            <a:srgbClr val="141B4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166878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743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TO MY RESEARCH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315468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Research gives me the formal language to turn engineering intuition — about defect tolerance, layout efficiency, or process parameters — into models that can be optimized, validated, and defended quantitatively.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4709160"/>
            <a:ext cx="502920" cy="36576"/>
          </a:xfrm>
          <a:prstGeom prst="rect">
            <a:avLst/>
          </a:prstGeom>
          <a:solidFill>
            <a:srgbClr val="C99A3E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4892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303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Adeleke Olorunnisola Oyeyemi · olorunnisola01@gmail.com · olorunnisola.netlify.app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5031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Operations Research</dc:title>
  <dc:subject>PptxGenJS Presentation</dc:subject>
  <dc:creator>Adeleke Olorunnisola Oyeyemi</dc:creator>
  <cp:lastModifiedBy>Adeleke Olorunnisola Oyeyemi</cp:lastModifiedBy>
  <cp:revision>1</cp:revision>
  <dcterms:created xsi:type="dcterms:W3CDTF">2026-07-31T23:31:39Z</dcterms:created>
  <dcterms:modified xsi:type="dcterms:W3CDTF">2026-07-31T23:31:39Z</dcterms:modified>
</cp:coreProperties>
</file>